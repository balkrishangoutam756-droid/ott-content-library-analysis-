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61F2D"/>
            </a:solidFill>
            <a:ln>
              <a:solidFill>
                <a:srgbClr val="D61F2D"/>
              </a:solidFill>
            </a:ln>
          </c:spPr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962</c:v>
                </c:pt>
                <c:pt idx="1">
                  <c:v>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61F2D"/>
            </a:solidFill>
            <a:ln>
              <a:solidFill>
                <a:srgbClr val="D61F2D"/>
              </a:solidFill>
            </a:ln>
          </c:spPr>
          <c:cat>
            <c:strRef>
              <c:f>Sheet1!$A$2:$A$9</c:f>
              <c:strCache>
                <c:ptCount val="8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France</c:v>
                </c:pt>
                <c:pt idx="4">
                  <c:v>Canada</c:v>
                </c:pt>
                <c:pt idx="5">
                  <c:v>China</c:v>
                </c:pt>
                <c:pt idx="6">
                  <c:v>Germany</c:v>
                </c:pt>
                <c:pt idx="7">
                  <c:v>Brazil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1046</c:v>
                </c:pt>
                <c:pt idx="1">
                  <c:v>38</c:v>
                </c:pt>
                <c:pt idx="2">
                  <c:v>18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61F2D"/>
            </a:solidFill>
            <a:ln>
              <a:solidFill>
                <a:srgbClr val="D61F2D"/>
              </a:solidFill>
            </a:ln>
          </c:spPr>
          <c:cat>
            <c:strRef>
              <c:f>Sheet1!$A$2:$A$9</c:f>
              <c:strCache>
                <c:ptCount val="8"/>
                <c:pt idx="0">
                  <c:v>TV-14</c:v>
                </c:pt>
                <c:pt idx="1">
                  <c:v>TV-MA</c:v>
                </c:pt>
                <c:pt idx="2">
                  <c:v>TV-PG</c:v>
                </c:pt>
                <c:pt idx="3">
                  <c:v>TV-Y7</c:v>
                </c:pt>
                <c:pt idx="4">
                  <c:v>PG-13</c:v>
                </c:pt>
                <c:pt idx="5">
                  <c:v>TV-G</c:v>
                </c:pt>
                <c:pt idx="6">
                  <c:v>PG</c:v>
                </c:pt>
                <c:pt idx="7">
                  <c:v>NR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572</c:v>
                </c:pt>
                <c:pt idx="1">
                  <c:v>266</c:v>
                </c:pt>
                <c:pt idx="2">
                  <c:v>144</c:v>
                </c:pt>
                <c:pt idx="3">
                  <c:v>17</c:v>
                </c:pt>
                <c:pt idx="4">
                  <c:v>11</c:v>
                </c:pt>
                <c:pt idx="5">
                  <c:v>10</c:v>
                </c:pt>
                <c:pt idx="6">
                  <c:v>7</c:v>
                </c:pt>
                <c:pt idx="7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61F2D"/>
            </a:solidFill>
            <a:ln>
              <a:solidFill>
                <a:srgbClr val="D61F2D"/>
              </a:solidFill>
            </a:ln>
          </c:spPr>
          <c:cat>
            <c:strRef>
              <c:f>Sheet1!$A$2:$A$9</c:f>
              <c:strCache>
                <c:ptCount val="8"/>
                <c:pt idx="0">
                  <c:v>International Movies</c:v>
                </c:pt>
                <c:pt idx="1">
                  <c:v>Dramas</c:v>
                </c:pt>
                <c:pt idx="2">
                  <c:v>Comedies</c:v>
                </c:pt>
                <c:pt idx="3">
                  <c:v>Independent Movies</c:v>
                </c:pt>
                <c:pt idx="4">
                  <c:v>Action &amp; Adventure</c:v>
                </c:pt>
                <c:pt idx="5">
                  <c:v>Romantic Movies</c:v>
                </c:pt>
                <c:pt idx="6">
                  <c:v>Music &amp; Musicals</c:v>
                </c:pt>
                <c:pt idx="7">
                  <c:v>Thrillers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864</c:v>
                </c:pt>
                <c:pt idx="1">
                  <c:v>662</c:v>
                </c:pt>
                <c:pt idx="2">
                  <c:v>323</c:v>
                </c:pt>
                <c:pt idx="3">
                  <c:v>167</c:v>
                </c:pt>
                <c:pt idx="4">
                  <c:v>137</c:v>
                </c:pt>
                <c:pt idx="5">
                  <c:v>120</c:v>
                </c:pt>
                <c:pt idx="6">
                  <c:v>96</c:v>
                </c:pt>
                <c:pt idx="7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61F2D"/>
            </a:solidFill>
            <a:ln>
              <a:solidFill>
                <a:srgbClr val="D61F2D"/>
              </a:solidFill>
            </a:ln>
          </c:spPr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162</c:v>
                </c:pt>
                <c:pt idx="2">
                  <c:v>349</c:v>
                </c:pt>
                <c:pt idx="3">
                  <c:v>218</c:v>
                </c:pt>
                <c:pt idx="4">
                  <c:v>199</c:v>
                </c:pt>
                <c:pt idx="5">
                  <c:v>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212A"/>
                </a:solidFill>
              </a:defRPr>
            </a:pPr>
            <a:r>
              <a:t>OTT Content Library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646974"/>
                </a:solidFill>
              </a:defRPr>
            </a:pPr>
            <a:r>
              <a:t>Netflix India Content Dashboard — Data-driven view of content mix, growth, genres and ratings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79476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392277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1,047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5079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TOTAL TITLES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79476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92277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962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5079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92277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5079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TV SHOWS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The business questions behind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12A"/>
                </a:solidFill>
              </a:defRPr>
            </a:pPr>
            <a:r>
              <a:t>• How large is the Indian content library in the workbook?</a:t>
            </a:r>
          </a:p>
          <a:p>
            <a:pPr>
              <a:spcAft>
                <a:spcPts val="1400"/>
              </a:spcAft>
              <a:defRPr sz="2000">
                <a:solidFill>
                  <a:srgbClr val="1E212A"/>
                </a:solidFill>
              </a:defRPr>
            </a:pPr>
            <a:r>
              <a:t>• How much is Movie vs TV Show?</a:t>
            </a:r>
          </a:p>
          <a:p>
            <a:pPr>
              <a:spcAft>
                <a:spcPts val="1400"/>
              </a:spcAft>
              <a:defRPr sz="2000">
                <a:solidFill>
                  <a:srgbClr val="1E212A"/>
                </a:solidFill>
              </a:defRPr>
            </a:pPr>
            <a:r>
              <a:t>• Which genre labels occur most often?</a:t>
            </a:r>
          </a:p>
          <a:p>
            <a:pPr>
              <a:spcAft>
                <a:spcPts val="1400"/>
              </a:spcAft>
              <a:defRPr sz="2000">
                <a:solidFill>
                  <a:srgbClr val="1E212A"/>
                </a:solidFill>
              </a:defRPr>
            </a:pPr>
            <a:r>
              <a:t>• Which ratings dominate the catalogue?</a:t>
            </a:r>
          </a:p>
          <a:p>
            <a:pPr>
              <a:spcAft>
                <a:spcPts val="1400"/>
              </a:spcAft>
              <a:defRPr sz="2000">
                <a:solidFill>
                  <a:srgbClr val="1E212A"/>
                </a:solidFill>
              </a:defRPr>
            </a:pPr>
            <a:r>
              <a:t>• How did content additions change from 2016 to 2021?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Workbook snapshot used for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45336"/>
            <a:ext cx="2194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1,047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TOTAL 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45336"/>
            <a:ext cx="2194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305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MOVIES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545336"/>
            <a:ext cx="2194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1305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TV SHOWS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1545336"/>
            <a:ext cx="2194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21305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YEARS SHOWN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12A"/>
                </a:solidFill>
              </a:defRPr>
            </a:pPr>
            <a:r>
              <a:t>• Main fields used: title, type, country, date added, release year, rating, duration and listed-in/genre.</a:t>
            </a:r>
          </a:p>
          <a:p>
            <a:pPr>
              <a:spcAft>
                <a:spcPts val="1400"/>
              </a:spcAft>
              <a:defRPr sz="1700">
                <a:solidFill>
                  <a:srgbClr val="1E212A"/>
                </a:solidFill>
              </a:defRPr>
            </a:pPr>
            <a:r>
              <a:t>• The workbook also contains pivot tables and a small AI-categorized theme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Making the workbook analysis-ready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965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61F2D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12A"/>
                </a:solidFill>
              </a:defRPr>
            </a:pPr>
            <a:r>
              <a:t>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691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4"/>
                </a:solidFill>
              </a:defRPr>
            </a:pPr>
            <a:r>
              <a:t>Check repeated title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554480"/>
            <a:ext cx="1965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61F2D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3172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12A"/>
                </a:solidFill>
              </a:defRPr>
            </a:pPr>
            <a:r>
              <a:t>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63240"/>
            <a:ext cx="1691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4"/>
                </a:solidFill>
              </a:defRPr>
            </a:pPr>
            <a:r>
              <a:t>Use year/date fields consistently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554480"/>
            <a:ext cx="1965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78308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61F2D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3172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12A"/>
                </a:solidFill>
              </a:defRPr>
            </a:pPr>
            <a: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63240"/>
            <a:ext cx="1691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4"/>
                </a:solidFill>
              </a:defRPr>
            </a:pPr>
            <a:r>
              <a:t>Standardize type, rating and genre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554480"/>
            <a:ext cx="1965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78308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61F2D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3172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12A"/>
                </a:solidFill>
              </a:defRPr>
            </a:pPr>
            <a:r>
              <a:t>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063240"/>
            <a:ext cx="1691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4"/>
                </a:solidFill>
              </a:defRPr>
            </a:pPr>
            <a:r>
              <a:t>Review missing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554480"/>
            <a:ext cx="1965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78308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61F2D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33172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12A"/>
                </a:solidFill>
              </a:defRPr>
            </a:pPr>
            <a:r>
              <a:t>Multi-value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063240"/>
            <a:ext cx="1691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4"/>
                </a:solidFill>
              </a:defRPr>
            </a:pPr>
            <a:r>
              <a:t>Treat genre labels as category occurrences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Executive 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The four numbers to remember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45336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1,047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TOTAL 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45336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305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MOVIES • 91.9%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45336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305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TV SHOWS • 8.0%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545336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349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305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PEAK ADDITIONS • 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The format split is strongly movie-heavy.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The yearly addition peak in this workbook occurs in 2018.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Content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Movies vs TV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52120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5544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12A"/>
                </a:solidFill>
              </a:defRPr>
            </a:pPr>
            <a:r>
              <a:t>• Movies: 962 titles (91.9%).</a:t>
            </a:r>
          </a:p>
          <a:p>
            <a:pPr>
              <a:spcAft>
                <a:spcPts val="1400"/>
              </a:spcAft>
              <a:defRPr sz="1700">
                <a:solidFill>
                  <a:srgbClr val="1E212A"/>
                </a:solidFill>
              </a:defRPr>
            </a:pPr>
            <a:r>
              <a:t>• TV Shows: 84 titles (8.0%).</a:t>
            </a:r>
          </a:p>
          <a:p>
            <a:pPr>
              <a:spcAft>
                <a:spcPts val="1400"/>
              </a:spcAft>
              <a:defRPr sz="1700">
                <a:solidFill>
                  <a:srgbClr val="1E212A"/>
                </a:solidFill>
              </a:defRPr>
            </a:pPr>
            <a:r>
              <a:t>• The two categories do not sum exactly to 100% because the workbook total is 1,047 and the displayed percentages are rounded.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Geographic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Country entries available in the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325880"/>
          <a:ext cx="7406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India has the highest country-entry count in the raw table (1046).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United States follows with 38.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Country is a multi-value field, so one title can contribute to multiple country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Rating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Maturity ratings across the Indian title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28016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75320" y="15087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TV-14 is the largest rating group: 572.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TV-MA follows with 266.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TV-PG is third with 144.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The remaining ratings occur much less frequently.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Genre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Most frequent genre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234440"/>
          <a:ext cx="76809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58200" y="14173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International Movies: 864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Dramas: 662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Comedies: 323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Independent Movies: 167</a:t>
            </a:r>
          </a:p>
          <a:p>
            <a:pPr>
              <a:spcAft>
                <a:spcPts val="1400"/>
              </a:spcAft>
              <a:defRPr sz="1500">
                <a:solidFill>
                  <a:srgbClr val="1E212A"/>
                </a:solidFill>
              </a:defRPr>
            </a:pPr>
            <a:r>
              <a:t>• Genre counts are category occurrences; a title may have multiple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Content Addition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Year-wise additions in the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32588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75320" y="14630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2018 is the peak: 349 additions.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2019: 218; 2020: 199.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2017: 162; 2021: 105; 2016: 13.</a:t>
            </a:r>
          </a:p>
          <a:p>
            <a:pPr>
              <a:spcAft>
                <a:spcPts val="1400"/>
              </a:spcAft>
              <a:defRPr sz="1600">
                <a:solidFill>
                  <a:srgbClr val="1E212A"/>
                </a:solidFill>
              </a:defRPr>
            </a:pPr>
            <a:r>
              <a:t>• The chart reflects the supplied workbook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What the Excel data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Movie-heavy library: 962 Movies vs 84 TV Shows.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2018 has the highest yearly addition count at 349.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International Movies and Dramas are the largest genre categories.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TV-14 is the most common rating, followed by TV-MA.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Country and genre counts should be interpreted carefully because fields can contain multiple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How This Matches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Direct mapping from Excel to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1,047 total • 962 Movies • 84 TV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6002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Content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103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Movie vs TV Show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6002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Time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103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2016–2021 yearly additions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6576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Category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605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Genre and rating comparisons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4747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6576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Drill-down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41605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Country / genre / rating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4747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36576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1605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12A"/>
                </a:solidFill>
              </a:defRPr>
            </a:pPr>
            <a:r>
              <a:t>Simple findings based on workbook values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What should be stated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This analysis is based only on the supplied Excel workbook.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The workbook represents a content snapshot, not live Netflix inventory.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Genre and country fields can contain multiple values, so counts depend on the counting method.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The theme analysis is based on a small AI-categorized sample and should not be treated as the full catalogue.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Year-wise additions use the values present in the workbook.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90-Second 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Exactly what to show during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1556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1155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Start with 1,047 / 962 / 84.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0195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Content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0195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Explain the movie-heavy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8833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88336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Point to 2018 peak: 349.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47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Genres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747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Show International Movies and Dramas.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8536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61103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261103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Show TV-14 and TV-MA.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1F2D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4748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12A"/>
                </a:solidFill>
              </a:defRPr>
            </a:pPr>
            <a: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4748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974"/>
                </a:solidFill>
              </a:defRPr>
            </a:pPr>
            <a:r>
              <a:t>Give the 3–4 strongest facts.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12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4"/>
                </a:solidFill>
              </a:defRPr>
            </a:pPr>
            <a:r>
              <a:t>From raw Excel data to clear, decision-ready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974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E5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9961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1,047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848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9961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848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MOVIES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9961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349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0848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PEAK YEAR ADDITIONS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499616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61F2D"/>
                </a:solidFill>
              </a:defRPr>
            </a:pPr>
            <a:r>
              <a:t>572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0848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974"/>
                </a:solidFill>
              </a:defRPr>
            </a:pPr>
            <a:r>
              <a:t>TOP RATING: TV-14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The dataset is strongly movie-oriented.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2018 is the highest addition year in the supplied data.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International Movies and Dramas dominate the genre counts.</a:t>
            </a:r>
          </a:p>
          <a:p>
            <a:pPr>
              <a:spcAft>
                <a:spcPts val="1400"/>
              </a:spcAft>
              <a:defRPr sz="1800">
                <a:solidFill>
                  <a:srgbClr val="1E212A"/>
                </a:solidFill>
              </a:defRPr>
            </a:pPr>
            <a:r>
              <a:t>• TV-14 is the most common rating.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61F2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